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各位老师好，我今天汇报的项目是"基于 LLM 协同辅助自动化测试的登录测试用例生成与分析系统"。这个项目主要利用大语言模型生成登录功能测试用例，再通过 Selenium 自动化执行测试，最后使用 pyecharts 对测试结果进行可视化分析。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在实际软件测试过程中，测试用例的设计往往依赖人工经验。对于登录功能来说，虽然看起来简单，但需要考虑正常登录、用户名异常、密码异常、边界值、SQL 注入、XSS 攻击等多种场景。如果完全依靠人工编写，不仅耗时，而且容易遗漏边界情况。因此，我希望借助 LLM 的能力，提高测试用例生成效率，并把生成、执行和分析流程串联起来。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本项目的目标不是单纯调用一次大模型，而是构建一个完整的测试辅助闭环。首先由 LLM 生成结构化测试用例，然后由 Selenium 对登录页面进行自动化测试，测试结果会被保存为 JSON 文件，最后通过 pyecharts 生成可视化大屏，帮助分析不同测试类别的分布、执行耗时和验证规则命中情况。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系统主要分为四个部分。第一部分是 Day1，用于调用 DeepSeek API 生成测试用例，并保存为 Markdown 和 Excel。第二部分是 Day2，使用 Selenium 对登录页面执行自动化测试。第三部分是 Day3，使用 Gradio 将生成测试用例和执行自动化测试整合到一个 Web 界面中。第四部分是 Day4，读取测试结果并生成 pyecharts 可视化大屏。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Day1 是测试用例生成模块。系统会根据预设的提示词，要求模型按照固定 Markdown 表格格式输出测试用例。生成内容会被解析并保存为 Excel 文件。这样可以把非结构化的模型输出转化为可管理的测试数据。这里并不是简单让模型自由生成文本，而是通过固定字段、固定表格格式和规则约束，让输出结果更容易被程序解析。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Day2 是自动化测试执行模块。系统使用 Selenium 打开登录页面，自动输入用户名和密码，并点击登录按钮。每条测试都会记录测试类别、输入内容、执行状态、实际输出和耗时。如果测试失败，系统还会自动保存截图，方便后续排查问题。这个模块不只是判断测试是否通过，还会把每条测试的结果结构化保存，为后续可视化分析提供数据基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Day3 是一个 Gradio 统一平台。它将前面几个模块整合到一个 Web 界面中。用户可以在页面上配置模型、提示词和测试规则，也可以直接执行 Selenium 测试，并查看测试结果。此外，Day3 还提供了手动登录测试功能，方便快速验证登录规则是否正确。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Day4 是结果分析模块。它会读取 Day2 或 Day3 生成的测试结果，然后使用 pyecharts 生成可视化大屏。通过这些图表，可以直观看到不同类型测试用例的分布情况、各类测试的平均耗时，以及系统主要触发了哪些验证规则。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我认为本项目的亮点主要有三点。第一，它把 LLM 引入测试用例生成环节，提高了测试设计效率。第二，它不是停留在生成文本，而是继续执行自动化测试并收集结果。第三，它通过 Gradio 和 pyecharts 把复杂流程包装成可视化、可操作的系统，比较适合教学演示和小型项目使用。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当然，这个项目目前还有一些不足。比如当前登录页面是一个教学模拟页面，没有连接真实后端数据库；LLM 输出也可能受到模型稳定性影响；测试规模还比较有限。后续可以进一步接入真实接口，使用更严格的输出格式约束，并加入持续集成流程，让测试能够自动运行和自动分析。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的来说，本项目实现了从测试用例生成、自动化执行到结果可视化的完整流程。它可以帮助测试人员或学习者更高效地设计测试用例，并通过自动化方式验证登录功能，最后通过可视化结果分析测试覆盖情况。我的汇报到此结束，请各位老师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A5E9">
                  <a:alpha val="15000"/>
                </a:srgbClr>
              </a:gs>
              <a:gs pos="100000">
                <a:srgbClr val="0EA5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668000" y="190500"/>
            <a:ext cx="1524000" cy="152400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81000" y="5143500"/>
            <a:ext cx="1143000" cy="11430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10668000" cy="34290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762000" y="1714500"/>
            <a:ext cx="76200" cy="3429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EA5E9"/>
              </a:gs>
              <a:gs pos="100000">
                <a:srgbClr val="8B5CF6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99210" y="2375535"/>
            <a:ext cx="553136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基于 LLM 协同辅助自动化测试的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9210" y="2851785"/>
            <a:ext cx="49831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登录测试用例生成与分析系统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355" y="3569018"/>
            <a:ext cx="60470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使用 DeepSeek API、Selenium、Gradio 与 pyecharts 构建自动化测试闭环</a:t>
            </a:r>
          </a:p>
        </p:txBody>
      </p:sp>
      <p:sp>
        <p:nvSpPr>
          <p:cNvPr id="11" name="Line 11"/>
          <p:cNvSpPr/>
          <p:nvPr/>
        </p:nvSpPr>
        <p:spPr>
          <a:xfrm>
            <a:off x="1333500" y="40005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320165" y="4268152"/>
            <a:ext cx="13778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课程答辩 | 2026年6月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0EA5E9">
                  <a:alpha val="90000"/>
                </a:srgbClr>
              </a:gs>
              <a:gs pos="100000">
                <a:srgbClr val="8B5CF6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项目背景与问题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203960"/>
            <a:ext cx="25908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传统测试用例编写存在三个核心痛点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14500"/>
            <a:ext cx="3429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Ellipse 8"/>
          <p:cNvSpPr/>
          <p:nvPr/>
        </p:nvSpPr>
        <p:spPr>
          <a:xfrm>
            <a:off x="723900" y="-228600"/>
            <a:ext cx="457200" cy="457200"/>
          </a:xfrm>
          <a:prstGeom prst="ellipse">
            <a:avLst/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78443" y="19907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443" y="19907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355" y="20069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人工编写成本高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255365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测试用例设计依赖人工经验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27917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耗时且效率低下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81500" y="1714500"/>
            <a:ext cx="3429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15" name="Ellipse 15"/>
          <p:cNvSpPr/>
          <p:nvPr/>
        </p:nvSpPr>
        <p:spPr>
          <a:xfrm>
            <a:off x="4533900" y="1866900"/>
            <a:ext cx="457200" cy="457200"/>
          </a:xfrm>
          <a:prstGeom prst="ellipse">
            <a:avLst/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88443" y="19907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26355" y="200691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测试场景容易遗漏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8665" y="25536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边界值、安全测试等场景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8665" y="279177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容易被忽略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91500" y="1714500"/>
            <a:ext cx="3429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1" name="Ellipse 21"/>
          <p:cNvSpPr/>
          <p:nvPr/>
        </p:nvSpPr>
        <p:spPr>
          <a:xfrm>
            <a:off x="8343900" y="1866900"/>
            <a:ext cx="457200" cy="457200"/>
          </a:xfrm>
          <a:prstGeom prst="ellipse">
            <a:avLst/>
          </a:prstGeom>
          <a:solidFill>
            <a:srgbClr val="8B5CF6">
              <a:alpha val="1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98443" y="19907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5CF6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36355" y="200691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测试结果缺少统一分析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68665" y="25536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结果分散，难以可视化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68665" y="27917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缺乏系统性分析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000500"/>
            <a:ext cx="11049000" cy="1143000"/>
          </a:xfrm>
          <a:prstGeom prst="roundRect">
            <a:avLst>
              <a:gd name="adj" fmla="val 10000"/>
            </a:avLst>
          </a:prstGeom>
          <a:solidFill>
            <a:srgbClr val="0EA5E9">
              <a:alpha val="5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7260" y="4347210"/>
            <a:ext cx="8453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💡 核心洞察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9165" y="4649152"/>
            <a:ext cx="49902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借助 LLM 的能力，提高测试用例生成效率，并把生成、执行和分析流程串联起来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2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项目目标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构建完整的测试辅助闭环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14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Ellipse 8"/>
          <p:cNvSpPr/>
          <p:nvPr/>
        </p:nvSpPr>
        <p:spPr>
          <a:xfrm>
            <a:off x="1333500" y="1905000"/>
            <a:ext cx="381000" cy="381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472160" y="20393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628" y="2363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自动生成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9610" y="255365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登录测试用例</a:t>
            </a:r>
          </a:p>
        </p:txBody>
      </p:sp>
      <p:sp>
        <p:nvSpPr>
          <p:cNvPr id="12" name="Freeform 12"/>
          <p:cNvSpPr/>
          <p:nvPr/>
        </p:nvSpPr>
        <p:spPr>
          <a:xfrm>
            <a:off x="2571750" y="2381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13" name="Rectangle 13"/>
          <p:cNvSpPr/>
          <p:nvPr/>
        </p:nvSpPr>
        <p:spPr>
          <a:xfrm>
            <a:off x="2857500" y="1714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14" name="Ellipse 14"/>
          <p:cNvSpPr/>
          <p:nvPr/>
        </p:nvSpPr>
        <p:spPr>
          <a:xfrm>
            <a:off x="3619500" y="1905000"/>
            <a:ext cx="381000" cy="381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58160" y="20393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02628" y="2363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自动执行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26206" y="2553652"/>
            <a:ext cx="967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Selenium 测试</a:t>
            </a:r>
          </a:p>
        </p:txBody>
      </p:sp>
      <p:sp>
        <p:nvSpPr>
          <p:cNvPr id="18" name="Freeform 18"/>
          <p:cNvSpPr/>
          <p:nvPr/>
        </p:nvSpPr>
        <p:spPr>
          <a:xfrm>
            <a:off x="4857750" y="2381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143500" y="1714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0" name="Ellipse 20"/>
          <p:cNvSpPr/>
          <p:nvPr/>
        </p:nvSpPr>
        <p:spPr>
          <a:xfrm>
            <a:off x="5905500" y="1905000"/>
            <a:ext cx="381000" cy="381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044160" y="20393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8628" y="2363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自动收集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8628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测试结果</a:t>
            </a:r>
          </a:p>
        </p:txBody>
      </p:sp>
      <p:sp>
        <p:nvSpPr>
          <p:cNvPr id="24" name="Freeform 24"/>
          <p:cNvSpPr/>
          <p:nvPr/>
        </p:nvSpPr>
        <p:spPr>
          <a:xfrm>
            <a:off x="7143750" y="2381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25" name="Rectangle 25"/>
          <p:cNvSpPr/>
          <p:nvPr/>
        </p:nvSpPr>
        <p:spPr>
          <a:xfrm>
            <a:off x="7429500" y="1714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6" name="Ellipse 26"/>
          <p:cNvSpPr/>
          <p:nvPr/>
        </p:nvSpPr>
        <p:spPr>
          <a:xfrm>
            <a:off x="8191500" y="1905000"/>
            <a:ext cx="381000" cy="381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30160" y="20393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74628" y="2363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自动生成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01119" y="2553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可视化分析</a:t>
            </a:r>
          </a:p>
        </p:txBody>
      </p:sp>
      <p:sp>
        <p:nvSpPr>
          <p:cNvPr id="30" name="Freeform 30"/>
          <p:cNvSpPr/>
          <p:nvPr/>
        </p:nvSpPr>
        <p:spPr>
          <a:xfrm>
            <a:off x="9429750" y="2381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31" name="Rectangle 31"/>
          <p:cNvSpPr/>
          <p:nvPr/>
        </p:nvSpPr>
        <p:spPr>
          <a:xfrm>
            <a:off x="9715500" y="1714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32" name="Ellipse 32"/>
          <p:cNvSpPr/>
          <p:nvPr/>
        </p:nvSpPr>
        <p:spPr>
          <a:xfrm>
            <a:off x="10477500" y="1905000"/>
            <a:ext cx="381000" cy="381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616160" y="20393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60628" y="2363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提供统一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60628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操作界面</a:t>
            </a:r>
          </a:p>
        </p:txBody>
      </p:sp>
      <p:sp>
        <p:nvSpPr>
          <p:cNvPr id="36" name="Freeform 36"/>
          <p:cNvSpPr/>
          <p:nvPr/>
        </p:nvSpPr>
        <p:spPr>
          <a:xfrm>
            <a:off x="1524000" y="3143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9144000" y="0"/>
                </a:moveTo>
                <a:cubicBezTo>
                  <a:pt x="9144000" y="444500"/>
                  <a:pt x="7620000" y="666750"/>
                  <a:pt x="4572000" y="666750"/>
                </a:cubicBezTo>
                <a:cubicBezTo>
                  <a:pt x="1524000" y="666750"/>
                  <a:pt x="0" y="444500"/>
                  <a:pt x="0" y="0"/>
                </a:cubicBezTo>
              </a:path>
            </a:pathLst>
          </a:custGeom>
          <a:noFill/>
          <a:ln w="19050">
            <a:gradFill>
              <a:gsLst>
                <a:gs pos="0">
                  <a:srgbClr val="0EA5E9"/>
                </a:gs>
                <a:gs pos="100000">
                  <a:srgbClr val="8B5CF6"/>
                </a:gs>
              </a:gsLst>
              <a:lin ang="0" scaled="1"/>
            </a:gradFill>
            <a:prstDash val="lgDash"/>
          </a:ln>
        </p:spPr>
      </p:sp>
      <p:sp>
        <p:nvSpPr>
          <p:cNvPr id="37" name="TextBox 37"/>
          <p:cNvSpPr txBox="1"/>
          <p:nvPr/>
        </p:nvSpPr>
        <p:spPr>
          <a:xfrm>
            <a:off x="5802630" y="38871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完整闭环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572000"/>
            <a:ext cx="11049000" cy="952500"/>
          </a:xfrm>
          <a:prstGeom prst="roundRect">
            <a:avLst>
              <a:gd name="adj" fmla="val 12000"/>
            </a:avLst>
          </a:prstGeom>
          <a:solidFill>
            <a:srgbClr val="0EA5E9">
              <a:alpha val="5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37260" y="4823460"/>
            <a:ext cx="8453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🎯 核心目标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9165" y="5125402"/>
            <a:ext cx="56273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不是单纯调用大模型，而是构建从用例生成、自动化执行到结果可视化的完整测试辅助闭环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3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系统架构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510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技术栈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42875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8295" y="1531620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Python</a:t>
            </a:r>
          </a:p>
        </p:txBody>
      </p:sp>
      <p:sp>
        <p:nvSpPr>
          <p:cNvPr id="9" name="Rectangle 9"/>
          <p:cNvSpPr/>
          <p:nvPr/>
        </p:nvSpPr>
        <p:spPr>
          <a:xfrm>
            <a:off x="1619250" y="142875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13274" y="1531620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DeepSeek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857500" y="142875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44047" y="1531620"/>
            <a:ext cx="388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Gradio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14750" y="142875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33539" y="1531620"/>
            <a:ext cx="514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Selenium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762500" y="142875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934045" y="1531620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pytest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619750" y="142875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787533" y="15316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pyecharts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6260" y="206121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系统流程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4765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7009" y="2696528"/>
            <a:ext cx="923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DeepSeek API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8274" y="2903220"/>
            <a:ext cx="760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LLM 生成用例</a:t>
            </a:r>
          </a:p>
        </p:txBody>
      </p:sp>
      <p:sp>
        <p:nvSpPr>
          <p:cNvPr id="23" name="Freeform 23"/>
          <p:cNvSpPr/>
          <p:nvPr/>
        </p:nvSpPr>
        <p:spPr>
          <a:xfrm>
            <a:off x="2381250" y="2857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2857500" y="24765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5" name="TextBox 25"/>
          <p:cNvSpPr txBox="1"/>
          <p:nvPr/>
        </p:nvSpPr>
        <p:spPr>
          <a:xfrm>
            <a:off x="3539695" y="2696528"/>
            <a:ext cx="3501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43275" y="29032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测试用例生成</a:t>
            </a:r>
          </a:p>
        </p:txBody>
      </p:sp>
      <p:sp>
        <p:nvSpPr>
          <p:cNvPr id="27" name="Freeform 27"/>
          <p:cNvSpPr/>
          <p:nvPr/>
        </p:nvSpPr>
        <p:spPr>
          <a:xfrm>
            <a:off x="4667250" y="2857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28" name="Rectangle 28"/>
          <p:cNvSpPr/>
          <p:nvPr/>
        </p:nvSpPr>
        <p:spPr>
          <a:xfrm>
            <a:off x="5143500" y="24765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23545" y="2696528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Excel / MD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89282" y="2903220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9E0B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结构化用例</a:t>
            </a:r>
          </a:p>
        </p:txBody>
      </p:sp>
      <p:sp>
        <p:nvSpPr>
          <p:cNvPr id="31" name="Freeform 31"/>
          <p:cNvSpPr/>
          <p:nvPr/>
        </p:nvSpPr>
        <p:spPr>
          <a:xfrm>
            <a:off x="6953250" y="2857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32" name="Rectangle 32"/>
          <p:cNvSpPr/>
          <p:nvPr/>
        </p:nvSpPr>
        <p:spPr>
          <a:xfrm>
            <a:off x="7429500" y="24765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33" name="TextBox 33"/>
          <p:cNvSpPr txBox="1"/>
          <p:nvPr/>
        </p:nvSpPr>
        <p:spPr>
          <a:xfrm>
            <a:off x="8111695" y="2696528"/>
            <a:ext cx="3501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91272" y="2903220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Selenium 测试</a:t>
            </a:r>
          </a:p>
        </p:txBody>
      </p:sp>
      <p:sp>
        <p:nvSpPr>
          <p:cNvPr id="35" name="Freeform 35"/>
          <p:cNvSpPr/>
          <p:nvPr/>
        </p:nvSpPr>
        <p:spPr>
          <a:xfrm>
            <a:off x="9239250" y="2857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9715500" y="24765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8B5CF6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382993" y="2696528"/>
            <a:ext cx="3795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5CF6"/>
                </a:solidFill>
                <a:latin typeface="Segoe UI"/>
                <a:ea typeface="Microsoft YaHei"/>
                <a:cs typeface="Segoe UI"/>
              </a:rPr>
              <a:t>JSON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21290" y="29032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5CF6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测试结果</a:t>
            </a:r>
          </a:p>
        </p:txBody>
      </p:sp>
      <p:sp>
        <p:nvSpPr>
          <p:cNvPr id="39" name="Rectangle 39"/>
          <p:cNvSpPr/>
          <p:nvPr/>
        </p:nvSpPr>
        <p:spPr>
          <a:xfrm>
            <a:off x="2857500" y="38100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40" name="TextBox 40"/>
          <p:cNvSpPr txBox="1"/>
          <p:nvPr/>
        </p:nvSpPr>
        <p:spPr>
          <a:xfrm>
            <a:off x="3895687" y="4061460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643265" y="4331970"/>
            <a:ext cx="9049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Gradio 统一平台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66243" y="4522470"/>
            <a:ext cx="1259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生成 + 测试 + 手动验证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905500" y="38100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44" name="TextBox 44"/>
          <p:cNvSpPr txBox="1"/>
          <p:nvPr/>
        </p:nvSpPr>
        <p:spPr>
          <a:xfrm>
            <a:off x="6943687" y="4061460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37258" y="4331970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pyecharts 可视化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81276" y="45224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 类图表分析</a:t>
            </a:r>
          </a:p>
        </p:txBody>
      </p:sp>
      <p:sp>
        <p:nvSpPr>
          <p:cNvPr id="47" name="Rectangle 4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4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2944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Day1 — LLM 生成测试用例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28628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调用 DeepSeek API 生成结构化测试用例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TextBox 8"/>
          <p:cNvSpPr txBox="1"/>
          <p:nvPr/>
        </p:nvSpPr>
        <p:spPr>
          <a:xfrm>
            <a:off x="937260" y="1870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执行流程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286000"/>
            <a:ext cx="4572000" cy="571500"/>
          </a:xfrm>
          <a:prstGeom prst="roundRect">
            <a:avLst>
              <a:gd name="adj" fmla="val 13333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29665" y="2506028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5415" y="2506028"/>
            <a:ext cx="29670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加载 .env 配置（API Key、Base URL、Model）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3048000"/>
            <a:ext cx="4572000" cy="571500"/>
          </a:xfrm>
          <a:prstGeom prst="roundRect">
            <a:avLst>
              <a:gd name="adj" fmla="val 13333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29665" y="3268028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5415" y="3268028"/>
            <a:ext cx="25679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构造提示词（字段要求 + 测试场景要求）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3810000"/>
            <a:ext cx="4572000" cy="571500"/>
          </a:xfrm>
          <a:prstGeom prst="roundRect">
            <a:avLst>
              <a:gd name="adj" fmla="val 13333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9665" y="4030028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5415" y="4030028"/>
            <a:ext cx="1902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调用 API 生成 Markdown 表格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52500" y="4572000"/>
            <a:ext cx="4572000" cy="571500"/>
          </a:xfrm>
          <a:prstGeom prst="roundRect">
            <a:avLst>
              <a:gd name="adj" fmla="val 13333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29665" y="4792028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5415" y="4792028"/>
            <a:ext cx="22529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解析表格 → 保存 Excel + Markdown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61925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2" name="TextBox 22"/>
          <p:cNvSpPr txBox="1"/>
          <p:nvPr/>
        </p:nvSpPr>
        <p:spPr>
          <a:xfrm>
            <a:off x="6652260" y="1870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输出文件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667500" y="22860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085100" y="2506028"/>
            <a:ext cx="1069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testcases.xlsx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763000" y="22860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8B5CF6">
              <a:alpha val="1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226106" y="2506028"/>
            <a:ext cx="9787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5CF6"/>
                </a:solidFill>
                <a:latin typeface="Segoe UI"/>
                <a:ea typeface="Microsoft YaHei"/>
                <a:cs typeface="Segoe UI"/>
              </a:rPr>
              <a:t>testcases.md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371475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8" name="TextBox 28"/>
          <p:cNvSpPr txBox="1"/>
          <p:nvPr/>
        </p:nvSpPr>
        <p:spPr>
          <a:xfrm>
            <a:off x="6652260" y="3966210"/>
            <a:ext cx="17778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生成内容（20 条用例）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4165" y="4363402"/>
            <a:ext cx="1244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5 种正常登录场景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4165" y="4601528"/>
            <a:ext cx="24559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10 种异常场景（用户名/密码/组合）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4165" y="4839652"/>
            <a:ext cx="11048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5 种边界值测试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165" y="5077778"/>
            <a:ext cx="17208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SQL 注入 / XSS 攻击测试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5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32591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Day2 — Selenium 自动化测试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3294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使用 Selenium 对登录页面执行 30 条测试用例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11049000" cy="26670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TextBox 8"/>
          <p:cNvSpPr txBox="1"/>
          <p:nvPr/>
        </p:nvSpPr>
        <p:spPr>
          <a:xfrm>
            <a:off x="937260" y="1870710"/>
            <a:ext cx="17778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测试分类（30 条用例）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2860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97628" y="25060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Segoe UI"/>
                <a:ea typeface="Microsoft YaHei"/>
                <a:cs typeface="Segoe UI"/>
              </a:rPr>
              <a:t>正常场景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2556" y="2760345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 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048000" y="22860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619619" y="25060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用户名异常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78056" y="2760345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7 条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22860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DC2626">
              <a:alpha val="1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88628" y="25060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密码异常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73556" y="2760345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7 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0" y="22860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8B5CF6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84128" y="25060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5CF6"/>
                </a:solidFill>
                <a:latin typeface="Segoe UI"/>
                <a:ea typeface="Microsoft YaHei"/>
                <a:cs typeface="Segoe UI"/>
              </a:rPr>
              <a:t>安全测试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69056" y="2760345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 条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334500" y="22860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053137" y="2506028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边界值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4556" y="2760345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6 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476750"/>
            <a:ext cx="533400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5" name="TextBox 25"/>
          <p:cNvSpPr txBox="1"/>
          <p:nvPr/>
        </p:nvSpPr>
        <p:spPr>
          <a:xfrm>
            <a:off x="937260" y="4728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技术特性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165" y="5077778"/>
            <a:ext cx="1517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自动启动 HTTP 服务器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9165" y="5315902"/>
            <a:ext cx="1811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Session 级共享浏览器实例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9165" y="5554028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失败自动截图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165" y="579215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结构化 JSON 结果输出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4476750"/>
            <a:ext cx="533400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31" name="TextBox 31"/>
          <p:cNvSpPr txBox="1"/>
          <p:nvPr/>
        </p:nvSpPr>
        <p:spPr>
          <a:xfrm>
            <a:off x="6652260" y="4728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输出文件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165" y="5077778"/>
            <a:ext cx="22249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test_results.json（测试结果）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165" y="5315902"/>
            <a:ext cx="19099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screenshots/（失败截图）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165" y="5554028"/>
            <a:ext cx="1839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支持 HEADLESS=1 无头模式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165" y="5792152"/>
            <a:ext cx="1503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支持 -k 参数聚焦测试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6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274245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Day3 — Gradio 统一平台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3174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一站式 Web 界面，集成 Day1 + Day2 + Day4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571500" y="1619250"/>
            <a:ext cx="3429000" cy="38100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85354" y="1753552"/>
            <a:ext cx="14012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Tab 1: 生成测试用例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2267902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配置格式要求、模型、提示词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2506028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调用 DeepSeek API 生成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2744152"/>
            <a:ext cx="1972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展示 Markdown + 下载 Excel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982278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Generator 模式实现加载态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81500" y="161925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15" name="Rectangle 15"/>
          <p:cNvSpPr/>
          <p:nvPr/>
        </p:nvSpPr>
        <p:spPr>
          <a:xfrm>
            <a:off x="4381500" y="1619250"/>
            <a:ext cx="3429000" cy="3810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321845" y="1753552"/>
            <a:ext cx="1548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Tab 2: 执行自动化测试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49165" y="2267902"/>
            <a:ext cx="1342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选择有头/无头模式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9165" y="2506028"/>
            <a:ext cx="17418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subprocess 调用 pytest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49165" y="2744152"/>
            <a:ext cx="14688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展示结果 DataFrame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9165" y="2982278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一键打开可视化大屏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191500" y="161925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2" name="Rectangle 22"/>
          <p:cNvSpPr/>
          <p:nvPr/>
        </p:nvSpPr>
        <p:spPr>
          <a:xfrm>
            <a:off x="8191500" y="1619250"/>
            <a:ext cx="3429000" cy="38100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205354" y="1753552"/>
            <a:ext cx="14012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Tab 3: 手动测试登录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59165" y="2267902"/>
            <a:ext cx="14828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输入用户名/密码验证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165" y="2506028"/>
            <a:ext cx="13778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复用 Day2 验证逻辑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59165" y="2744152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快捷填入测试账号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59165" y="2982278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实时显示验证结果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000500"/>
            <a:ext cx="11049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9" name="TextBox 29"/>
          <p:cNvSpPr txBox="1"/>
          <p:nvPr/>
        </p:nvSpPr>
        <p:spPr>
          <a:xfrm>
            <a:off x="937260" y="4251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平台特性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9165" y="4649152"/>
            <a:ext cx="1755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端口 7863，深色奢华主题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9165" y="4887278"/>
            <a:ext cx="26099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API Key 从 .env 后台读取，不暴露在 UI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9165" y="5125402"/>
            <a:ext cx="2231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测试结果副本存入 day3/output/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165" y="5363528"/>
            <a:ext cx="30930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同时启动 dashboard 静态服务器（端口 7864）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82665" y="4649152"/>
            <a:ext cx="2876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WSL2 适配：rundll32 打开 Windows 浏览器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82665" y="4887278"/>
            <a:ext cx="1902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pytest 超时保护（300 秒）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82665" y="5125402"/>
            <a:ext cx="20919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结果自动同步到 day3/output/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82665" y="5363528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支持自定义提示词模板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7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296928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Day4 — pyecharts 可视化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29348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读取测试结果，生成 4 类图表可视化大屏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2667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Ellipse 8"/>
          <p:cNvSpPr/>
          <p:nvPr/>
        </p:nvSpPr>
        <p:spPr>
          <a:xfrm>
            <a:off x="1524000" y="1809750"/>
            <a:ext cx="762000" cy="762000"/>
          </a:xfrm>
          <a:prstGeom prst="ellipse">
            <a:avLst/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16132" y="20535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0610" y="2648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输入类型分布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3548" y="29032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玫瑰图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2526" y="314134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 类输入特征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619500" y="1619250"/>
            <a:ext cx="2667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14" name="Ellipse 14"/>
          <p:cNvSpPr/>
          <p:nvPr/>
        </p:nvSpPr>
        <p:spPr>
          <a:xfrm>
            <a:off x="4572000" y="1809750"/>
            <a:ext cx="762000" cy="762000"/>
          </a:xfrm>
          <a:prstGeom prst="ellipse">
            <a:avLst/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864132" y="20535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98610" y="2648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平均执行耗时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61548" y="29032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柱状图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41532" y="31413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各类别对比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667500" y="1619250"/>
            <a:ext cx="2667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0" name="Ellipse 20"/>
          <p:cNvSpPr/>
          <p:nvPr/>
        </p:nvSpPr>
        <p:spPr>
          <a:xfrm>
            <a:off x="7620000" y="1809750"/>
            <a:ext cx="762000" cy="762000"/>
          </a:xfrm>
          <a:prstGeom prst="ellipse">
            <a:avLst/>
          </a:prstGeom>
          <a:solidFill>
            <a:srgbClr val="8B5CF6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912132" y="20535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B5CF6"/>
                </a:solidFill>
                <a:latin typeface="Segoe UI"/>
                <a:ea typeface="Microsoft YaHei"/>
                <a:cs typeface="Segoe UI"/>
              </a:rPr>
              <a:t>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46610" y="2648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验证结果分布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89532" y="2903220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水平柱状图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38526" y="314134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6 种校验规则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715500" y="1619250"/>
            <a:ext cx="1905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6" name="Ellipse 26"/>
          <p:cNvSpPr/>
          <p:nvPr/>
        </p:nvSpPr>
        <p:spPr>
          <a:xfrm>
            <a:off x="10287000" y="1809750"/>
            <a:ext cx="762000" cy="762000"/>
          </a:xfrm>
          <a:prstGeom prst="ellipse">
            <a:avLst/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579132" y="20535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16A34A"/>
                </a:solidFill>
                <a:latin typeface="Segoe UI"/>
                <a:ea typeface="Microsoft YaHei"/>
                <a:cs typeface="Segoe UI"/>
              </a:rPr>
              <a:t>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20198" y="2648902"/>
            <a:ext cx="6956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类别×输入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56532" y="2903220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堆叠柱状图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16540" y="31413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交叉分析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810000"/>
            <a:ext cx="11049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32" name="TextBox 32"/>
          <p:cNvSpPr txBox="1"/>
          <p:nvPr/>
        </p:nvSpPr>
        <p:spPr>
          <a:xfrm>
            <a:off x="937260" y="40614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数据源优先级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52500" y="4476750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226772" y="4696778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① day3/output/test_results.json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3905250" y="4762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0EA5E9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4381500" y="4476750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99765" y="4696778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② day2/selenium/test_results.json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9165" y="5315902"/>
            <a:ext cx="5809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核心分析函数：_classify_input()（5 类输入）、_normalize_output()（6 种校验规则）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5554028"/>
            <a:ext cx="29880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Light 主题配色，通过 Page 整合为单一 HTML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9165" y="5792152"/>
            <a:ext cx="3170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同时集成到 Day3 Tab 2 的「生成可视化」按钮中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8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项目亮点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四大核心亮点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571500" y="161925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5355" y="1949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🤖 LLM 辅助测试设计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23631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利用大模型快速生成多类型测试用例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2601278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减少人工编写成本，提高测试设计效率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283940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通过固定输出格式和解析逻辑保证质量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61925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14" name="Rectangle 14"/>
          <p:cNvSpPr/>
          <p:nvPr/>
        </p:nvSpPr>
        <p:spPr>
          <a:xfrm>
            <a:off x="6286500" y="161925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50355" y="1949768"/>
            <a:ext cx="1518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🔄 自动化测试闭环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2363152"/>
            <a:ext cx="2967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从用例生成、测试执行、结果保存到可视化分析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4165" y="2601278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形成完整流程，非单纯调用大模型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4165" y="283940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每个环节都有结构化数据输出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71475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0" name="Rectangle 20"/>
          <p:cNvSpPr/>
          <p:nvPr/>
        </p:nvSpPr>
        <p:spPr>
          <a:xfrm>
            <a:off x="571500" y="371475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5355" y="4045268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🎯 教学演示友好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4458652"/>
            <a:ext cx="16578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通过 Gradio 提供统一界面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9165" y="46967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降低操作门槛，无需命令行切换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165" y="493490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适合教学演示和小型项目使用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371475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6" name="Rectangle 26"/>
          <p:cNvSpPr/>
          <p:nvPr/>
        </p:nvSpPr>
        <p:spPr>
          <a:xfrm>
            <a:off x="6286500" y="371475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650355" y="4045268"/>
            <a:ext cx="11400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📊 结果可追踪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4165" y="445865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每条测试记录输入、状态、输出和耗时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4165" y="4696778"/>
            <a:ext cx="2623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通过 pyecharts 可视化分析测试覆盖情况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4165" y="493490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帮助发现测试分布是否均衡</a:t>
            </a:r>
          </a:p>
        </p:txBody>
      </p:sp>
      <p:sp>
        <p:nvSpPr>
          <p:cNvPr id="31" name="Rectangle 3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73028" y="661797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9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" y="281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不足与改进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0871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当前限制与后续改进方向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5334000" cy="41910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571500" y="1619250"/>
            <a:ext cx="5334000" cy="476250"/>
          </a:xfrm>
          <a:prstGeom prst="roundRect">
            <a:avLst>
              <a:gd name="adj" fmla="val 24000"/>
            </a:avLst>
          </a:prstGeom>
          <a:solidFill>
            <a:srgbClr val="DC2626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887218" y="17945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当前不足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2363152"/>
            <a:ext cx="1062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1. 教学模拟页面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1570" y="2617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登录页面没有连接真实后端数据库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29822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2. 模型输出稳定性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1570" y="3236595"/>
            <a:ext cx="16010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LLM 生成内容受模型质量影响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601402"/>
            <a:ext cx="1062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3. 测试规模有限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1570" y="38557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目前仅覆盖登录功能测试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4220528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4. 未接入 CI/CD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1570" y="44748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没有持续集成流程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4839652"/>
            <a:ext cx="1342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5. 缺少用例评估机制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5093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没有去重和质量评分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619250"/>
            <a:ext cx="5334000" cy="41910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1" name="Rectangle 21"/>
          <p:cNvSpPr/>
          <p:nvPr/>
        </p:nvSpPr>
        <p:spPr>
          <a:xfrm>
            <a:off x="6286500" y="1619250"/>
            <a:ext cx="5334000" cy="476250"/>
          </a:xfrm>
          <a:prstGeom prst="roundRect">
            <a:avLst>
              <a:gd name="adj" fmla="val 24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02218" y="17945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Segoe UI"/>
                <a:ea typeface="Microsoft YaHei"/>
                <a:cs typeface="Segoe UI"/>
              </a:rPr>
              <a:t>改进方向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4165" y="2363152"/>
            <a:ext cx="1342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1. 接入真实后端接口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46570" y="2617470"/>
            <a:ext cx="17870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连接数据库或 API，模拟真实场景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4165" y="2982278"/>
            <a:ext cx="16928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2. JSON Schema 约束输出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46570" y="32365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使用更严格的输出格式约束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4165" y="3601402"/>
            <a:ext cx="1342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3. 扩展更多业务模块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46570" y="385572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注册、表单、支付等功能测试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4165" y="4220528"/>
            <a:ext cx="1517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4. 接入 GitHub Actions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46570" y="447484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实现自动化测试和分析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4165" y="4839652"/>
            <a:ext cx="14828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5. 增加用例去重和评分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46570" y="509397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提高测试用例质量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617970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基于 LLM 协同辅助自动化测试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07020" y="661797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10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5CF6">
                  <a:alpha val="1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381000"/>
            <a:ext cx="1143000" cy="114300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0" y="5143500"/>
            <a:ext cx="1524000" cy="15240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905000" y="1524000"/>
            <a:ext cx="8382000" cy="3810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>
            <a:outerShdw blurRad="228600" dist="3810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7" name="TextBox 7"/>
          <p:cNvSpPr txBox="1"/>
          <p:nvPr/>
        </p:nvSpPr>
        <p:spPr>
          <a:xfrm>
            <a:off x="5729478" y="2026920"/>
            <a:ext cx="7330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8" name="Line 8"/>
          <p:cNvSpPr/>
          <p:nvPr/>
        </p:nvSpPr>
        <p:spPr>
          <a:xfrm>
            <a:off x="2857500" y="257175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918585" y="2902268"/>
            <a:ext cx="43548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本项目围绕登录功能测试，实现了完整的测试辅助闭环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667000" y="3429000"/>
            <a:ext cx="1905000" cy="952500"/>
          </a:xfrm>
          <a:prstGeom prst="roundRect">
            <a:avLst>
              <a:gd name="adj" fmla="val 12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448841" y="3680460"/>
            <a:ext cx="3413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A5E9"/>
                </a:solidFill>
                <a:latin typeface="Segoe UI"/>
                <a:ea typeface="Microsoft YaHei"/>
                <a:cs typeface="Segoe UI"/>
              </a:rPr>
              <a:t>LLM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48025" y="395097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测试用例生成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39640" y="371094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+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3429000"/>
            <a:ext cx="1905000" cy="952500"/>
          </a:xfrm>
          <a:prstGeom prst="roundRect">
            <a:avLst>
              <a:gd name="adj" fmla="val 12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36317" y="3680460"/>
            <a:ext cx="7193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Selenium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4517" y="395097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自动化测试执行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16140" y="371094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+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0" y="3429000"/>
            <a:ext cx="1905000" cy="952500"/>
          </a:xfrm>
          <a:prstGeom prst="roundRect">
            <a:avLst>
              <a:gd name="adj" fmla="val 12000"/>
            </a:avLst>
          </a:prstGeom>
          <a:solidFill>
            <a:srgbClr val="8B5CF6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41408" y="3680460"/>
            <a:ext cx="862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5CF6"/>
                </a:solidFill>
                <a:latin typeface="Segoe UI"/>
                <a:ea typeface="Microsoft YaHei"/>
                <a:cs typeface="Segoe UI"/>
              </a:rPr>
              <a:t>pyecharts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1017" y="395097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结果可视化分析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22420" y="4649152"/>
            <a:ext cx="39471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为登录功能测试提供了一个可演示、可扩展、可复用的辅助系统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69077" y="5711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gradFill>
                  <a:gsLst>
                    <a:gs pos="0">
                      <a:srgbClr val="0EA5E9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Segoe UI"/>
                <a:ea typeface="Microsoft YaHei"/>
                <a:cs typeface="Segoe UI"/>
              </a:rPr>
              <a:t>感谢聆听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52586" y="607790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请各位老师批评指正</a:t>
            </a:r>
          </a:p>
        </p:txBody>
      </p:sp>
      <p:sp>
        <p:nvSpPr>
          <p:cNvPr id="24" name="Rectangle 2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0EA5E9">
                  <a:alpha val="90000"/>
                </a:srgbClr>
              </a:gs>
              <a:gs pos="100000">
                <a:srgbClr val="8B5CF6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2026-06-23T01:13:03Z</dcterms:created>
  <dcterms:modified xsi:type="dcterms:W3CDTF">2026-06-23T01:13:03Z</dcterms:modified>
  <cp:category/>
  <cp:contentStatus/>
</cp:coreProperties>
</file>